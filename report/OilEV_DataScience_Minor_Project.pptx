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4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1D3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B1D3A"/>
                </a:solidFill>
                <a:latin typeface="Arial"/>
              </a:rPr>
              <a:t>Brent Crude Oil Price ($/bbl) — 2026 Crisis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Brent Crude ($/bbl)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E29-40DB-A95F-0A42A7C4CEAE}"/>
              </c:ext>
            </c:extLst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E29-40DB-A95F-0A42A7C4CEAE}"/>
              </c:ext>
            </c:extLst>
          </c:dPt>
          <c:dPt>
            <c:idx val="2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E29-40DB-A95F-0A42A7C4CEAE}"/>
              </c:ext>
            </c:extLst>
          </c:dPt>
          <c:dPt>
            <c:idx val="3"/>
            <c:invertIfNegative val="0"/>
            <c:bubble3D val="0"/>
            <c:spPr>
              <a:solidFill>
                <a:srgbClr val="7F1D1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E29-40DB-A95F-0A42A7C4CEA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Jan 2026</c:v>
                </c:pt>
                <c:pt idx="1">
                  <c:v>Feb 2026</c:v>
                </c:pt>
                <c:pt idx="2">
                  <c:v>Mar 2026</c:v>
                </c:pt>
                <c:pt idx="3">
                  <c:v>Apr 2,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71</c:v>
                </c:pt>
                <c:pt idx="1">
                  <c:v>81</c:v>
                </c:pt>
                <c:pt idx="2">
                  <c:v>103</c:v>
                </c:pt>
                <c:pt idx="3">
                  <c:v>128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E29-40DB-A95F-0A42A7C4CEA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EA5B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EA5B0"/>
                </a:solidFill>
                <a:latin typeface="Arial"/>
              </a:rPr>
              <a:t>Global EV Fleet &amp; Oil Displacement (IEA STEPS + BNEF)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 Fleet (Millions of Vehicles)</c:v>
                </c:pt>
              </c:strCache>
            </c:strRef>
          </c:tx>
          <c:spPr>
            <a:ln w="38100" cap="flat">
              <a:solidFill>
                <a:srgbClr val="0EA5B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EA5B0"/>
              </a:solidFill>
              <a:ln w="9525" cap="flat">
                <a:solidFill>
                  <a:srgbClr val="0EA5B0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2015</c:v>
                </c:pt>
                <c:pt idx="1">
                  <c:v>2020</c:v>
                </c:pt>
                <c:pt idx="2">
                  <c:v>2023</c:v>
                </c:pt>
                <c:pt idx="3">
                  <c:v>2025</c:v>
                </c:pt>
                <c:pt idx="4">
                  <c:v>2030</c:v>
                </c:pt>
                <c:pt idx="5">
                  <c:v>2035</c:v>
                </c:pt>
                <c:pt idx="6">
                  <c:v>2040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1.2</c:v>
                </c:pt>
                <c:pt idx="1">
                  <c:v>10</c:v>
                </c:pt>
                <c:pt idx="2">
                  <c:v>40</c:v>
                </c:pt>
                <c:pt idx="3">
                  <c:v>75</c:v>
                </c:pt>
                <c:pt idx="4">
                  <c:v>250</c:v>
                </c:pt>
                <c:pt idx="5">
                  <c:v>480</c:v>
                </c:pt>
                <c:pt idx="6">
                  <c:v>800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09F-4F19-9334-7C0458255E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E8F4F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E3A5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Oil Displacement (mb/d)</c:v>
                </c:pt>
              </c:strCache>
            </c:strRef>
          </c:tx>
          <c:spPr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2015</c:v>
                </c:pt>
                <c:pt idx="1">
                  <c:v>2020</c:v>
                </c:pt>
                <c:pt idx="2">
                  <c:v>2023</c:v>
                </c:pt>
                <c:pt idx="3">
                  <c:v>2025</c:v>
                </c:pt>
                <c:pt idx="4">
                  <c:v>2030</c:v>
                </c:pt>
                <c:pt idx="5">
                  <c:v>2035</c:v>
                </c:pt>
                <c:pt idx="6">
                  <c:v>2040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0.05</c:v>
                </c:pt>
                <c:pt idx="1">
                  <c:v>0.35</c:v>
                </c:pt>
                <c:pt idx="2">
                  <c:v>1.3</c:v>
                </c:pt>
                <c:pt idx="3">
                  <c:v>2.5</c:v>
                </c:pt>
                <c:pt idx="4">
                  <c:v>5.5</c:v>
                </c:pt>
                <c:pt idx="5">
                  <c:v>11.5</c:v>
                </c:pt>
                <c:pt idx="6">
                  <c:v>23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951-4BE4-8CA5-D02BE7F3DA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59E0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F59E0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00000">
        <a:alpha val="0"/>
      </a:srgbClr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Lithium Reserves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A5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791-45FF-B3B9-0C81FAB186A0}"/>
              </c:ext>
            </c:extLst>
          </c:dPt>
          <c:dPt>
            <c:idx val="1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791-45FF-B3B9-0C81FAB186A0}"/>
              </c:ext>
            </c:extLst>
          </c:dPt>
          <c:dPt>
            <c:idx val="2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791-45FF-B3B9-0C81FAB186A0}"/>
              </c:ext>
            </c:extLst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791-45FF-B3B9-0C81FAB186A0}"/>
              </c:ext>
            </c:extLst>
          </c:dPt>
          <c:dPt>
            <c:idx val="4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791-45FF-B3B9-0C81FAB186A0}"/>
              </c:ext>
            </c:extLst>
          </c:dPt>
          <c:dPt>
            <c:idx val="5"/>
            <c:bubble3D val="0"/>
            <c:spPr>
              <a:solidFill>
                <a:srgbClr val="6B72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791-45FF-B3B9-0C81FAB186A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791-45FF-B3B9-0C81FAB186A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791-45FF-B3B9-0C81FAB186A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791-45FF-B3B9-0C81FAB186A0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791-45FF-B3B9-0C81FAB186A0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791-45FF-B3B9-0C81FAB186A0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4791-45FF-B3B9-0C81FAB186A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Chile 33.2%</c:v>
                </c:pt>
                <c:pt idx="1">
                  <c:v>Australia 22.1%</c:v>
                </c:pt>
                <c:pt idx="2">
                  <c:v>Argentina 12.8%</c:v>
                </c:pt>
                <c:pt idx="3">
                  <c:v>China 10.7%</c:v>
                </c:pt>
                <c:pt idx="4">
                  <c:v>USA 3.9%</c:v>
                </c:pt>
                <c:pt idx="5">
                  <c:v>Others 17.3%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33.200000000000003</c:v>
                </c:pt>
                <c:pt idx="1">
                  <c:v>22.1</c:v>
                </c:pt>
                <c:pt idx="2">
                  <c:v>12.8</c:v>
                </c:pt>
                <c:pt idx="3">
                  <c:v>10.7</c:v>
                </c:pt>
                <c:pt idx="4">
                  <c:v>3.9</c:v>
                </c:pt>
                <c:pt idx="5">
                  <c:v>17.3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4791-45FF-B3B9-0C81FAB186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E8F4F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E3A5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3657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A5B0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37160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2035"/>
          </a:solidFill>
          <a:ln w="12700">
            <a:solidFill>
              <a:srgbClr val="0D2035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548640"/>
            <a:ext cx="914400" cy="9144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548640"/>
            <a:ext cx="914400" cy="914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35040" y="1828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0EA5B0"/>
                </a:solidFill>
              </a:rPr>
              <a:t>DATA SCIENCE MINOR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411480" y="45720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Crisis &amp;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Vehicles</a:t>
            </a:r>
            <a:endParaRPr lang="en-US" sz="4400" dirty="0"/>
          </a:p>
        </p:txBody>
      </p:sp>
      <p:sp>
        <p:nvSpPr>
          <p:cNvPr id="9" name="Text 5"/>
          <p:cNvSpPr/>
          <p:nvPr/>
        </p:nvSpPr>
        <p:spPr>
          <a:xfrm>
            <a:off x="411480" y="256032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0EA5B0"/>
                </a:solidFill>
              </a:rPr>
              <a:t>Advanced Data Analytics in Global Energy Markets:</a:t>
            </a:r>
            <a:endParaRPr lang="en-US" sz="13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0EA5B0"/>
                </a:solidFill>
              </a:rPr>
              <a:t>Structural Vulnerabilities &amp; the EV Transition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11480" y="3520440"/>
            <a:ext cx="5029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11479" y="3657600"/>
            <a:ext cx="687558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</a:rPr>
              <a:t>Team Members: </a:t>
            </a:r>
            <a:r>
              <a:rPr lang="en-US" sz="1100" b="1" dirty="0">
                <a:solidFill>
                  <a:srgbClr val="FFFFFF"/>
                </a:solidFill>
              </a:rPr>
              <a:t>Anand V| Divyansh B| Ravindra JM | Prathamesh B|</a:t>
            </a:r>
            <a:r>
              <a:rPr lang="en-US" sz="1100" dirty="0">
                <a:solidFill>
                  <a:srgbClr val="94A3B8"/>
                </a:solidFill>
              </a:rPr>
              <a:t> </a:t>
            </a:r>
            <a:r>
              <a:rPr lang="en-US" sz="1100" dirty="0">
                <a:solidFill>
                  <a:srgbClr val="FFFFFF"/>
                </a:solidFill>
              </a:rPr>
              <a:t>Data Science Minor Project  </a:t>
            </a:r>
            <a:r>
              <a:rPr lang="en-US" sz="1100" dirty="0">
                <a:solidFill>
                  <a:srgbClr val="94A3B8"/>
                </a:solidFill>
              </a:rPr>
              <a:t> | </a:t>
            </a:r>
            <a:r>
              <a:rPr lang="en-US" sz="1100" dirty="0">
                <a:solidFill>
                  <a:srgbClr val="FFFFFF"/>
                </a:solidFill>
              </a:rPr>
              <a:t>2025–26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11480" y="425196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11480" y="42519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1371600" y="425196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371600" y="42519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ggplot2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2331720" y="425196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331720" y="42519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tidyverse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291840" y="425196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291840" y="42519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Shiny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81528"/>
          </a:solidFill>
          <a:ln w="12700">
            <a:solidFill>
              <a:srgbClr val="08152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B.Tech Data Science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</a:rPr>
              <a:t>PROBLEM STATEMENT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82880"/>
            <a:ext cx="59436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143000"/>
            <a:ext cx="2788920" cy="3200400"/>
          </a:xfrm>
          <a:prstGeom prst="rect">
            <a:avLst/>
          </a:prstGeom>
          <a:solidFill>
            <a:srgbClr val="FFF5F5"/>
          </a:solidFill>
          <a:ln w="12700">
            <a:solidFill>
              <a:srgbClr val="E53E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143000"/>
            <a:ext cx="2788920" cy="10972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129844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53E3E"/>
                </a:solidFill>
              </a:rPr>
              <a:t>Oil Supply Vulnerability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1847088"/>
            <a:ext cx="2468880" cy="36576"/>
          </a:xfrm>
          <a:prstGeom prst="rect">
            <a:avLst/>
          </a:prstGeom>
          <a:solidFill>
            <a:srgbClr val="E53E3E">
              <a:alpha val="50000"/>
            </a:srgbClr>
          </a:solidFill>
          <a:ln w="12700">
            <a:solidFill>
              <a:srgbClr val="E53E3E">
                <a:alpha val="5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1938528"/>
            <a:ext cx="25146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155"/>
                </a:solidFill>
              </a:rPr>
              <a:t>~63% of global oil travels by sea through highly concentrated maritime chokepoints. A single disruption — like the 2026 Hormuz closure — can erase 5.5 mb/d instantly.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182112" y="1143000"/>
            <a:ext cx="2788920" cy="3200400"/>
          </a:xfrm>
          <a:prstGeom prst="rect">
            <a:avLst/>
          </a:prstGeom>
          <a:solidFill>
            <a:srgbClr val="FFFAF0"/>
          </a:solidFill>
          <a:ln w="12700">
            <a:solidFill>
              <a:srgbClr val="DD6B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82112" y="1143000"/>
            <a:ext cx="2788920" cy="109728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19272" y="129844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D6B20"/>
                </a:solidFill>
              </a:rPr>
              <a:t>Geopolitical Price Shocks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319272" y="1847088"/>
            <a:ext cx="2468880" cy="36576"/>
          </a:xfrm>
          <a:prstGeom prst="rect">
            <a:avLst/>
          </a:prstGeom>
          <a:solidFill>
            <a:srgbClr val="DD6B20">
              <a:alpha val="50000"/>
            </a:srgbClr>
          </a:solidFill>
          <a:ln w="12700">
            <a:solidFill>
              <a:srgbClr val="DD6B20">
                <a:alpha val="5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19272" y="1938528"/>
            <a:ext cx="25146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155"/>
                </a:solidFill>
              </a:rPr>
              <a:t>Oil demand is notoriously inelastic in the short run (elasticity: −0.14 to −0.70). A 5.2% supply drop caused Brent crude to spike from $71 → $128/barrel in weeks.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089904" y="1143000"/>
            <a:ext cx="2788920" cy="3200400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089904" y="1143000"/>
            <a:ext cx="278892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27064" y="129844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9488"/>
                </a:solidFill>
              </a:rPr>
              <a:t>EV Transition Complexity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227064" y="1847088"/>
            <a:ext cx="2468880" cy="36576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27064" y="1938528"/>
            <a:ext cx="25146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155"/>
                </a:solidFill>
              </a:rPr>
              <a:t>EVs are displacing 1.3+ mb/d today, projected to reach 12 mb/d by 2035. But they introduce new dependencies: lithium, cobalt, and China's processing dominance.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274320" y="4526280"/>
            <a:ext cx="8595360" cy="41148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1480" y="45262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</a:rPr>
              <a:t>WHY THIS MATTERS  →  Energy security, economic stability, and the pace of decarbonization all hinge on understanding these interlocked systems with data.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</a:rPr>
              <a:t>PROJECT OBJECTIVES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4343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97280"/>
            <a:ext cx="91440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173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133856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63EB"/>
                </a:solidFill>
              </a:rPr>
              <a:t>01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05840" y="144475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D3A"/>
                </a:solidFill>
              </a:rPr>
              <a:t>Oil Supply Chain Analysis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" y="178308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</a:rPr>
              <a:t>Map global refinery capacities and identify key export-oriented facilities by production volume and geography.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36592" y="1097280"/>
            <a:ext cx="4343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36592" y="1097280"/>
            <a:ext cx="91440" cy="1143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41732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13832" y="1133856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91B2"/>
                </a:solidFill>
              </a:rPr>
              <a:t>02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5513832" y="144475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D3A"/>
                </a:solidFill>
              </a:rPr>
              <a:t>Maritime Route Disruption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513832" y="178308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</a:rPr>
              <a:t>Model chokepoint transit volumes, evaluate alternate routing (Suez vs. Cape), and quantify time/cost differences.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228600" y="2377440"/>
            <a:ext cx="4343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28600" y="2377440"/>
            <a:ext cx="91440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69748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05840" y="2414016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C3AED"/>
                </a:solidFill>
              </a:rPr>
              <a:t>03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1005840" y="272491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D3A"/>
                </a:solidFill>
              </a:rPr>
              <a:t>Price Impact Modeling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005840" y="306324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</a:rPr>
              <a:t>Apply price elasticity models and VAR regression in R to quantify how supply shocks translate to crude oil price volatility.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736592" y="2377440"/>
            <a:ext cx="4343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36592" y="2377440"/>
            <a:ext cx="91440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2697480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13832" y="2414016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D9488"/>
                </a:solidFill>
              </a:rPr>
              <a:t>04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5513832" y="272491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D3A"/>
                </a:solidFill>
              </a:rPr>
              <a:t>EV Substitution Analysis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513832" y="306324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</a:rPr>
              <a:t>Calculate oil displacement per EV by region, model the EV fleet requirement to offset a 5.5 mb/d deficit, and graph the transition.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2286000" y="3657600"/>
            <a:ext cx="45720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2286000" y="3657600"/>
            <a:ext cx="91440" cy="1188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68880" y="4005072"/>
            <a:ext cx="457200" cy="4572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063240" y="370332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97706"/>
                </a:solidFill>
              </a:rPr>
              <a:t>05</a:t>
            </a:r>
            <a:endParaRPr lang="en-US" sz="2000" dirty="0"/>
          </a:p>
        </p:txBody>
      </p:sp>
      <p:sp>
        <p:nvSpPr>
          <p:cNvPr id="32" name="Text 25"/>
          <p:cNvSpPr/>
          <p:nvPr/>
        </p:nvSpPr>
        <p:spPr>
          <a:xfrm>
            <a:off x="3063240" y="4023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D3A"/>
                </a:solidFill>
              </a:rPr>
              <a:t>Lithium Supply Modeling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3063240" y="437083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</a:rPr>
              <a:t>Map global lithium reserves (28M tons) and mine production data to assess the emerging critical mineral dependency.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</a:rPr>
              <a:t>LITERATURE REVIEW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A5B0"/>
                </a:solidFill>
              </a:rPr>
              <a:t>Key findings from EIA, IEA, OPEC, BloombergNEF &amp; academic studies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88920" cy="1143000"/>
          </a:xfrm>
          <a:prstGeom prst="rect">
            <a:avLst/>
          </a:prstGeom>
          <a:solidFill>
            <a:srgbClr val="122850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97280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9E0B"/>
                </a:solidFill>
              </a:rPr>
              <a:t>103.3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74320" y="1737360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mb/d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938528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</a:rPr>
              <a:t>Global oil production 2024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82112" y="1051560"/>
            <a:ext cx="2788920" cy="1143000"/>
          </a:xfrm>
          <a:prstGeom prst="rect">
            <a:avLst/>
          </a:prstGeom>
          <a:solidFill>
            <a:srgbClr val="122850"/>
          </a:solidFill>
          <a:ln w="12700">
            <a:solidFill>
              <a:srgbClr val="0EA5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82112" y="1097280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EA5B0"/>
                </a:solidFill>
              </a:rPr>
              <a:t>55%+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182112" y="1737360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via 2 chokepoints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82112" y="1938528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</a:rPr>
              <a:t>Hormuz + Malacca share of seaborne oil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89904" y="1051560"/>
            <a:ext cx="2788920" cy="1143000"/>
          </a:xfrm>
          <a:prstGeom prst="rect">
            <a:avLst/>
          </a:prstGeom>
          <a:solidFill>
            <a:srgbClr val="122850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89904" y="1097280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0B981"/>
                </a:solidFill>
              </a:rPr>
              <a:t>1.3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089904" y="1737360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mb/d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89904" y="1938528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</a:rPr>
              <a:t>Oil displaced by EVs in 2024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6032" y="2331720"/>
            <a:ext cx="420624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228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2331720"/>
            <a:ext cx="73152" cy="749808"/>
          </a:xfrm>
          <a:prstGeom prst="rect">
            <a:avLst/>
          </a:prstGeom>
          <a:solidFill>
            <a:srgbClr val="0EA5B0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" y="2368296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B0"/>
                </a:solidFill>
              </a:rPr>
              <a:t>Global Oil Production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0624" y="262432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OPEC: 32.9 mb/d | Non-OPEC: 70.4 mb/d | Top 10 nations = 72% of supply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" y="3200400"/>
            <a:ext cx="420624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228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" y="3200400"/>
            <a:ext cx="73152" cy="749808"/>
          </a:xfrm>
          <a:prstGeom prst="rect">
            <a:avLst/>
          </a:prstGeom>
          <a:solidFill>
            <a:srgbClr val="0EA5B0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" y="3236976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B0"/>
                </a:solidFill>
              </a:rPr>
              <a:t>Price Elasticity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0624" y="349300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Short-run demand elasticity: −0.14 to −0.70 (meta-analysis of 75 studies, 2000–2015)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032" y="4069080"/>
            <a:ext cx="420624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228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" y="4069080"/>
            <a:ext cx="73152" cy="749808"/>
          </a:xfrm>
          <a:prstGeom prst="rect">
            <a:avLst/>
          </a:prstGeom>
          <a:solidFill>
            <a:srgbClr val="0EA5B0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" y="4105656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B0"/>
                </a:solidFill>
              </a:rPr>
              <a:t>Chokepoint Risk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20624" y="436168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Strait of Hormuz closure (Feb 2026): 5.5 mb/d shut-in; Brent spiked from $71 → $128/bbl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0016" y="2331720"/>
            <a:ext cx="420624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228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0016" y="2331720"/>
            <a:ext cx="73152" cy="749808"/>
          </a:xfrm>
          <a:prstGeom prst="rect">
            <a:avLst/>
          </a:prstGeom>
          <a:solidFill>
            <a:srgbClr val="0EA5B0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2368296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B0"/>
                </a:solidFill>
              </a:rPr>
              <a:t>EV Displacement Growth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64608" y="262432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Global EV fleet projected: 75M (2025) → 250M (2030) → 800M (2040)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0016" y="3200400"/>
            <a:ext cx="420624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228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0016" y="3200400"/>
            <a:ext cx="73152" cy="749808"/>
          </a:xfrm>
          <a:prstGeom prst="rect">
            <a:avLst/>
          </a:prstGeom>
          <a:solidFill>
            <a:srgbClr val="0EA5B0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3236976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B0"/>
                </a:solidFill>
              </a:rPr>
              <a:t>IEA STEPS Projection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64608" y="349300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EV oil displacement: 2.5 mb/d (2025) → 5.5 mb/d (2030) → 11.5 mb/d (2035)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0016" y="4069080"/>
            <a:ext cx="420624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2285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0016" y="4069080"/>
            <a:ext cx="73152" cy="749808"/>
          </a:xfrm>
          <a:prstGeom prst="rect">
            <a:avLst/>
          </a:prstGeom>
          <a:solidFill>
            <a:srgbClr val="0EA5B0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64608" y="4105656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B0"/>
                </a:solidFill>
              </a:rPr>
              <a:t>Lithium Supply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64608" y="436168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World reserves: 28M tons; Chile 33.2%, Australia 22.1%, Argentina 12.8%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</a:rPr>
              <a:t>DATA SOURCES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82880"/>
            <a:ext cx="59436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8600" y="1078992"/>
            <a:ext cx="4315968" cy="1078992"/>
          </a:xfrm>
          <a:prstGeom prst="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28600" y="1078992"/>
            <a:ext cx="91440" cy="10789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0" y="1152144"/>
            <a:ext cx="804672" cy="228600"/>
          </a:xfrm>
          <a:prstGeom prst="rect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0" y="1152144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CSV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11480" y="112471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2563EB"/>
                </a:solidFill>
              </a:rPr>
              <a:t>OIL PRODUCTION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11480" y="13258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D3A"/>
                </a:solidFill>
              </a:rPr>
              <a:t>Kaggle Oil Production Statistics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11480" y="1600200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oil_production_statistics.csv · 36 countries · 2021–2023 · columns: country, type, product, flow, year, value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709160" y="1078992"/>
            <a:ext cx="4315968" cy="1078992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1078992"/>
            <a:ext cx="91440" cy="10789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138160" y="1152144"/>
            <a:ext cx="804672" cy="228600"/>
          </a:xfrm>
          <a:prstGeom prst="rect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38160" y="1152144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891B2"/>
                </a:solidFill>
              </a:rPr>
              <a:t>CSV / TXT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892040" y="112471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891B2"/>
                </a:solidFill>
              </a:rPr>
              <a:t>SUPPLY &amp; DEMAND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892040" y="13258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D3A"/>
                </a:solidFill>
              </a:rPr>
              <a:t>IEA Monthly Oil Data Service (MODS)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892040" y="1600200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Historical supply/demand balances · OECD &amp; non-OECD · monthly/quarterly/annual · thousand bbl/day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28600" y="2313432"/>
            <a:ext cx="4315968" cy="1078992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28600" y="2313432"/>
            <a:ext cx="91440" cy="10789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657600" y="2386584"/>
            <a:ext cx="804672" cy="228600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0" y="2386584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3AED"/>
                </a:solidFill>
              </a:rPr>
              <a:t>API / CSV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11480" y="235915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7C3AED"/>
                </a:solidFill>
              </a:rPr>
              <a:t>PRICE DATA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411480" y="256032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D3A"/>
                </a:solidFill>
              </a:rPr>
              <a:t>FRED — Federal Reserve Economic Data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" y="2834640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Daily/weekly/monthly WTI &amp; Brent crude spot prices from 1986 to present · St. Louis Fed API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709160" y="2313432"/>
            <a:ext cx="4315968" cy="1078992"/>
          </a:xfrm>
          <a:prstGeom prst="rect">
            <a:avLst/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709160" y="2313432"/>
            <a:ext cx="91440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138160" y="2386584"/>
            <a:ext cx="804672" cy="22860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38160" y="2386584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</a:rPr>
              <a:t>API / CSV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4892040" y="235915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D9488"/>
                </a:solidFill>
              </a:rPr>
              <a:t>EV ADOPTION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4892040" y="256032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D3A"/>
                </a:solidFill>
              </a:rPr>
              <a:t>IEA Global EV Data Explorer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4892040" y="2834640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EV stock, sales, charger deployment · 34 global regions · historical + STEPS/APS scenarios to 2030+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228600" y="3547872"/>
            <a:ext cx="4315968" cy="1078992"/>
          </a:xfrm>
          <a:prstGeom prst="rect">
            <a:avLst/>
          </a:prstGeom>
          <a:solidFill>
            <a:srgbClr val="F8FAFC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228600" y="3547872"/>
            <a:ext cx="91440" cy="10789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657600" y="3621024"/>
            <a:ext cx="804672" cy="228600"/>
          </a:xfrm>
          <a:prstGeom prst="rect">
            <a:avLst/>
          </a:prstGeom>
          <a:solidFill>
            <a:srgbClr val="D97706">
              <a:alpha val="2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657600" y="3621024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97706"/>
                </a:solidFill>
              </a:rPr>
              <a:t>XML / CSV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411480" y="35935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D97706"/>
                </a:solidFill>
              </a:rPr>
              <a:t>LITHIUM MINERALS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411480" y="379476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D3A"/>
                </a:solidFill>
              </a:rPr>
              <a:t>USGS Mineral Commodity Summaries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411480" y="4069080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Machine-readable XML &amp; CSV · world production, reserves, resources by country · 2024 &amp; 2025 editions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709160" y="3547872"/>
            <a:ext cx="4315968" cy="1078992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4709160" y="3547872"/>
            <a:ext cx="91440" cy="10789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138160" y="3621024"/>
            <a:ext cx="804672" cy="228600"/>
          </a:xfrm>
          <a:prstGeom prst="rect">
            <a:avLst/>
          </a:prstGeom>
          <a:solidFill>
            <a:srgbClr val="059669">
              <a:alpha val="2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138160" y="3621024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</a:rPr>
              <a:t>API / CSV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4892040" y="35935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59669"/>
                </a:solidFill>
              </a:rPr>
              <a:t>MARITIME ROUTES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892040" y="379476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D3A"/>
                </a:solidFill>
              </a:rPr>
              <a:t>UNCTAD Maritime Transport Dataset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4892040" y="4069080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AIS-derived port calls, vessel sizes, transit volumes at global chokepoints via MarineTraffic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</a:rPr>
              <a:t>METHODOLOGY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A5B0"/>
                </a:solidFill>
              </a:rPr>
              <a:t>Tools: R  ·  ggplot2  ·  tidyverse  ·  dplyr  ·  leaflet  ·  forecast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1143000"/>
            <a:ext cx="1572768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" y="1179576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" y="1527048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Data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Collection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755648" y="1527048"/>
            <a:ext cx="164592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20240" y="1143000"/>
            <a:ext cx="1572768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20240" y="1179576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920240" y="1527048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Data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Cleaning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93008" y="1527048"/>
            <a:ext cx="164592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0" y="1143000"/>
            <a:ext cx="1572768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0" y="1179576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57600" y="1527048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EDA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Visualization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230368" y="1527048"/>
            <a:ext cx="164592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94960" y="1143000"/>
            <a:ext cx="157276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94960" y="1179576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394960" y="1527048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Route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Modeling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967728" y="1527048"/>
            <a:ext cx="164592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0" y="1143000"/>
            <a:ext cx="1572768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32320" y="1179576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132320" y="1527048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Econometric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Modeling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82880" y="2331720"/>
            <a:ext cx="15727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82880" y="2331720"/>
            <a:ext cx="1572768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450592"/>
            <a:ext cx="138988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</a:rPr>
              <a:t>Ingest CSV datasets from Kaggle, IEA, FRED, USGS via APIs and direct downloads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920240" y="2331720"/>
            <a:ext cx="15727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920240" y="2331720"/>
            <a:ext cx="1572768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0" y="2450592"/>
            <a:ext cx="138988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</a:rPr>
              <a:t>Handle missing values, normalize units (mb/d, metric tons), merge by country/year in R (dplyr)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0" y="2331720"/>
            <a:ext cx="15727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0" y="2331720"/>
            <a:ext cx="1572768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49040" y="2450592"/>
            <a:ext cx="138988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</a:rPr>
              <a:t>ggplot2 plots, geospatial maps (leaflet/sf), time-series decomposition of oil prices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394960" y="2331720"/>
            <a:ext cx="15727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394960" y="2331720"/>
            <a:ext cx="1572768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0" y="2450592"/>
            <a:ext cx="138988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</a:rPr>
              <a:t>Suez vs. Cape comparison: distance, time delay, fuel cost differential, fatigue analysis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132320" y="2331720"/>
            <a:ext cx="15727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132320" y="2331720"/>
            <a:ext cx="157276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23760" y="2450592"/>
            <a:ext cx="138988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</a:rPr>
              <a:t>VAR regression for price elasticity, supply-shock impact; OLS for demand forecasting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82880" y="3931920"/>
            <a:ext cx="8778240" cy="91440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93192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 Example  </a:t>
            </a: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oil_data </a:t>
            </a: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&lt;- read_csv('oil_production.csv') |&gt; filter(year &gt;= 2020) |&gt; group_by(country) |&gt; summarise(avg_prod = mean(value))  |&gt;  ggplot(aes(country, avg_prod)) + geom_col(fill='#0EA5B0')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</a:rPr>
              <a:t>OIL TRANSPORT ANALYSIS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828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10515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EA5B0"/>
                </a:solidFill>
              </a:rPr>
              <a:t>KEY MARITIME CHOKEPOINTS — 2025 H1 PROJECTIONS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5029200" cy="3383280"/>
        </p:xfrm>
        <a:graphic>
          <a:graphicData uri="http://schemas.openxmlformats.org/drawingml/2006/table">
            <a:tbl>
              <a:tblPr/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Chokepoint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Volume (mb/d)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% World Trade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59E0B"/>
                          </a:solidFill>
                        </a:rPr>
                        <a:t>Strait of Malacca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59E0B"/>
                          </a:solidFill>
                        </a:rPr>
                        <a:t>23.2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59E0B"/>
                          </a:solidFill>
                        </a:rPr>
                        <a:t>29.1%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59E0B"/>
                          </a:solidFill>
                        </a:rPr>
                        <a:t>Strait of Hormuz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59E0B"/>
                          </a:solidFill>
                        </a:rPr>
                        <a:t>20.9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59E0B"/>
                          </a:solidFill>
                        </a:rPr>
                        <a:t>26.2%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8"/>
                          </a:solidFill>
                        </a:rPr>
                        <a:t>Cape of Good Hope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8"/>
                          </a:solidFill>
                        </a:rPr>
                        <a:t>9.1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8"/>
                          </a:solidFill>
                        </a:rPr>
                        <a:t>11.4%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8"/>
                          </a:solidFill>
                        </a:rPr>
                        <a:t>Danish Straits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8"/>
                          </a:solidFill>
                        </a:rPr>
                        <a:t>4.9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8"/>
                          </a:solidFill>
                        </a:rPr>
                        <a:t>6.1%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8"/>
                          </a:solidFill>
                        </a:rPr>
                        <a:t>Suez Canal + SUMED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8"/>
                          </a:solidFill>
                        </a:rPr>
                        <a:t>4.9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8"/>
                          </a:solidFill>
                        </a:rPr>
                        <a:t>6.1%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8"/>
                          </a:solidFill>
                        </a:rPr>
                        <a:t>Bab el-Mandeb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8"/>
                          </a:solidFill>
                        </a:rPr>
                        <a:t>4.2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8"/>
                          </a:solidFill>
                        </a:rPr>
                        <a:t>5.3%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8"/>
                          </a:solidFill>
                        </a:rPr>
                        <a:t>Turkish Straits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8"/>
                          </a:solidFill>
                        </a:rPr>
                        <a:t>3.7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8"/>
                          </a:solidFill>
                        </a:rPr>
                        <a:t>4.6%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8"/>
                          </a:solidFill>
                        </a:rPr>
                        <a:t>Panama Canal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8"/>
                          </a:solidFill>
                        </a:rPr>
                        <a:t>2.3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F4F8"/>
                          </a:solidFill>
                        </a:rPr>
                        <a:t>2.9%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577840" y="105156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B0"/>
                </a:solidFill>
              </a:rPr>
              <a:t>WHY CHOKEPOINTS MATTER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577840" y="1417320"/>
            <a:ext cx="3337560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623560" y="1453896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63%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6720840" y="1490472"/>
            <a:ext cx="36576" cy="640080"/>
          </a:xfrm>
          <a:prstGeom prst="rect">
            <a:avLst/>
          </a:prstGeom>
          <a:solidFill>
            <a:srgbClr val="0EA5B0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812280" y="1490472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of world oil production moves via maritime routes (~56.5 mb/d)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577840" y="2331720"/>
            <a:ext cx="3337560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623560" y="2368296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55%+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6720840" y="2404872"/>
            <a:ext cx="36576" cy="640080"/>
          </a:xfrm>
          <a:prstGeom prst="rect">
            <a:avLst/>
          </a:prstGeom>
          <a:solidFill>
            <a:srgbClr val="0EA5B0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812280" y="2404872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of ALL seaborne oil passes through just Hormuz + Malacca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577840" y="3246120"/>
            <a:ext cx="3337560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5623560" y="3282696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5.5 mb/d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6720840" y="3319272"/>
            <a:ext cx="36576" cy="640080"/>
          </a:xfrm>
          <a:prstGeom prst="rect">
            <a:avLst/>
          </a:prstGeom>
          <a:solidFill>
            <a:srgbClr val="0EA5B0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812280" y="3319272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shut-in from Hormuz closure (Feb 2026) — 5.2% of global supply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577840" y="4160520"/>
            <a:ext cx="3337560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5623560" y="4197096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8 mega-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refineries</a:t>
            </a:r>
            <a:endParaRPr lang="en-US" sz="2200" dirty="0"/>
          </a:p>
        </p:txBody>
      </p:sp>
      <p:sp>
        <p:nvSpPr>
          <p:cNvPr id="22" name="Shape 18"/>
          <p:cNvSpPr/>
          <p:nvPr/>
        </p:nvSpPr>
        <p:spPr>
          <a:xfrm>
            <a:off x="6720840" y="4233672"/>
            <a:ext cx="36576" cy="640080"/>
          </a:xfrm>
          <a:prstGeom prst="rect">
            <a:avLst/>
          </a:prstGeom>
          <a:solidFill>
            <a:srgbClr val="0EA5B0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812280" y="4233672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</a:rPr>
              <a:t>each: USA &amp; China host 8 facilities processing 400,000+ bbl/day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81528"/>
          </a:solidFill>
          <a:ln w="12700">
            <a:solidFill>
              <a:srgbClr val="08152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Source: EIA World Oil Transit Chokepoints Analysis | Data: H1 2025 Projections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686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ROUTE COMPARISON: SUEZ CANAL vs. CAPE OF GOOD HOPE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24128"/>
            <a:ext cx="429768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24128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Suez Canal Route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2976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50876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Distance (Shanghai → NY)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606040" y="1508760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563EB"/>
                </a:solidFill>
              </a:rPr>
              <a:t>~12,370 nautical miles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947672"/>
            <a:ext cx="4297680" cy="402336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947672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Transit Time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606040" y="1947672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563EB"/>
                </a:solidFill>
              </a:rPr>
              <a:t>~25–28 days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386584"/>
            <a:ext cx="42976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386584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Canal Toll Cost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606040" y="2386584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563EB"/>
                </a:solidFill>
              </a:rPr>
              <a:t>$30,000 – $450,000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825496"/>
            <a:ext cx="4297680" cy="402336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825496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Fuel (Bunker) Cost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606040" y="2825496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563EB"/>
                </a:solidFill>
              </a:rPr>
              <a:t>Baseline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264408"/>
            <a:ext cx="42976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26440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Weather Risk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606040" y="3264408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563EB"/>
                </a:solidFill>
              </a:rPr>
              <a:t>Low (Mediterranean)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703320"/>
            <a:ext cx="4297680" cy="402336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70332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Hull Fatigue Damage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606040" y="3703320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563EB"/>
                </a:solidFill>
              </a:rPr>
              <a:t>Lower (calmer waters)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142232"/>
            <a:ext cx="42976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4142232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VLCC Compatible?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606040" y="4142232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563EB"/>
                </a:solidFill>
              </a:rPr>
              <a:t>Partially (size limit)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1024128"/>
            <a:ext cx="429768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1024128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Cape of Good Hope Route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09160" y="1508760"/>
            <a:ext cx="42976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18888" y="150876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Distance (Shanghai → NY)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040880" y="1508760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C2626"/>
                </a:solidFill>
              </a:rPr>
              <a:t>~14,468 nautical miles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1947672"/>
            <a:ext cx="4297680" cy="402336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18888" y="1947672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Transit Time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040880" y="1947672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C2626"/>
                </a:solidFill>
              </a:rPr>
              <a:t>~32–38 days (+7–10 days)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09160" y="2386584"/>
            <a:ext cx="42976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18888" y="2386584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Canal Toll Cost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040880" y="2386584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C2626"/>
                </a:solidFill>
              </a:rPr>
              <a:t>Zero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09160" y="2825496"/>
            <a:ext cx="4297680" cy="402336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18888" y="2825496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Fuel (Bunker) Cost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040880" y="2825496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C2626"/>
                </a:solidFill>
              </a:rPr>
              <a:t>+$50,000 – $100,000 extra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09160" y="3264408"/>
            <a:ext cx="42976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18888" y="326440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Weather Risk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040880" y="3264408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C2626"/>
                </a:solidFill>
              </a:rPr>
              <a:t>High (southern swells)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09160" y="3703320"/>
            <a:ext cx="4297680" cy="402336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18888" y="370332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Hull Fatigue Damage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040880" y="3703320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C2626"/>
                </a:solidFill>
              </a:rPr>
              <a:t>Higher (severe wave loads)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709160" y="4142232"/>
            <a:ext cx="42976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18888" y="4142232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VLCC Compatible?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040880" y="4142232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C2626"/>
                </a:solidFill>
              </a:rPr>
              <a:t>Yes (no size restriction)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" y="46177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59E0B"/>
                </a:solidFill>
              </a:rPr>
              <a:t>VERDICT: </a:t>
            </a:r>
            <a:r>
              <a:rPr lang="en-US" sz="1050" dirty="0">
                <a:solidFill>
                  <a:srgbClr val="E8F4F8"/>
                </a:solidFill>
              </a:rPr>
              <a:t>Suez = faster &amp; cheaper overall. Cape = zero toll but +$50–100K fuel &amp; +7–10 days. Rerouting during crises strains tanker fleets &amp; inflates delivered oil costs.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686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SUPPLY SHOCK SCENARIO — 2026 HORMUZ CLOSURE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82880"/>
            <a:ext cx="59436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097280"/>
            <a:ext cx="84124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1097280"/>
            <a:ext cx="8412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Feb 28, 2026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15568" y="1380744"/>
            <a:ext cx="256032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71600" y="1097280"/>
            <a:ext cx="749808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508760" y="1097280"/>
            <a:ext cx="7223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</a:rPr>
              <a:t>Military action initiates; Strait of Hormuz effectively closed to tanker traffic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74320" y="1975104"/>
            <a:ext cx="841248" cy="7132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1975104"/>
            <a:ext cx="8412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March 2026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115568" y="2258568"/>
            <a:ext cx="256032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371600" y="1975104"/>
            <a:ext cx="749808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508760" y="1975104"/>
            <a:ext cx="7223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</a:rPr>
              <a:t>5.5 mb/d of Persian Gulf crude physically trapped. Brent crude averages $103/bbl (+$32 from Feb)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274320" y="2852928"/>
            <a:ext cx="841248" cy="7132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4320" y="2852928"/>
            <a:ext cx="8412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April 2, 2026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1115568" y="3136392"/>
            <a:ext cx="256032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371600" y="2852928"/>
            <a:ext cx="749808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508760" y="2852928"/>
            <a:ext cx="7223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</a:rPr>
              <a:t>Brent crude peaks at $128/barrel. Asian economies begin sourcing from Atlantic Basin alternatives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274320" y="3730752"/>
            <a:ext cx="841248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" y="3730752"/>
            <a:ext cx="8412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Ongoing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1115568" y="4014216"/>
            <a:ext cx="256032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371600" y="3730752"/>
            <a:ext cx="749808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508760" y="3730752"/>
            <a:ext cx="7223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</a:rPr>
              <a:t>Ton-mile demand explodes as China, Japan, S.Korea reroute from Saudi→ US/Brazil/West Africa via Cape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274320" y="4645152"/>
            <a:ext cx="8595360" cy="347472"/>
          </a:xfrm>
          <a:prstGeom prst="rect">
            <a:avLst/>
          </a:prstGeom>
          <a:solidFill>
            <a:srgbClr val="7F1D1D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11480" y="464515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Math: </a:t>
            </a:r>
            <a:r>
              <a:rPr lang="en-US" sz="1100" dirty="0">
                <a:solidFill>
                  <a:srgbClr val="E8F4F8"/>
                </a:solidFill>
              </a:rPr>
              <a:t>5.5 mb/d ÷ 104.0 mb/d global demand = </a:t>
            </a:r>
            <a:r>
              <a:rPr lang="en-US" sz="1100" b="1" dirty="0">
                <a:solidFill>
                  <a:srgbClr val="FCA5A5"/>
                </a:solidFill>
              </a:rPr>
              <a:t>5.2% of world oil supply vanished overnight</a:t>
            </a:r>
            <a:r>
              <a:rPr lang="en-US" sz="1100" dirty="0">
                <a:solidFill>
                  <a:srgbClr val="F59E0B"/>
                </a:solidFill>
              </a:rPr>
              <a:t>   →  Inelastic demand = price spikes violently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FFFFFF"/>
                </a:solidFill>
              </a:rPr>
              <a:t>PRICE IMPACT &amp; DEMAND ELASTICITY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05840"/>
          <a:ext cx="51206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577840" y="10058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B1D3A"/>
                </a:solidFill>
              </a:rPr>
              <a:t>DEMAND ELASTICITY MODEL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577840" y="1371600"/>
            <a:ext cx="3337560" cy="100584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577840" y="137160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 = ΔQd / ΔP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577840" y="182880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</a:rPr>
              <a:t>Price Elasticity of Demand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577840" y="210312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(Meta-analysis of 75 studies, 2000–2015)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577840" y="2423160"/>
            <a:ext cx="3337560" cy="621792"/>
          </a:xfrm>
          <a:prstGeom prst="rect">
            <a:avLst/>
          </a:prstGeom>
          <a:solidFill>
            <a:srgbClr val="F0F9FF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0" y="2450592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D3A"/>
                </a:solidFill>
              </a:rPr>
              <a:t>Short-run elasticity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0" y="268833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−0.14 to −0.70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903720" y="2688336"/>
            <a:ext cx="1938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10% price rise → only 1.4–7% demand drop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577840" y="3136392"/>
            <a:ext cx="3337560" cy="621792"/>
          </a:xfrm>
          <a:prstGeom prst="rect">
            <a:avLst/>
          </a:prstGeom>
          <a:solidFill>
            <a:srgbClr val="F0F9FF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0" y="3163824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D3A"/>
                </a:solidFill>
              </a:rPr>
              <a:t>Long-run elasticity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669280" y="340156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−0.26 to −0.83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903720" y="3401568"/>
            <a:ext cx="1938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Consumers gradually adapt behavior over time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577840" y="3849624"/>
            <a:ext cx="3337560" cy="621792"/>
          </a:xfrm>
          <a:prstGeom prst="rect">
            <a:avLst/>
          </a:prstGeom>
          <a:solidFill>
            <a:srgbClr val="F0F9FF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0" y="3877056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D3A"/>
                </a:solidFill>
              </a:rPr>
              <a:t>Income elasticity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669280" y="411480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Positive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903720" y="4114800"/>
            <a:ext cx="1938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GDP growth raises baseline oil demand further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74320" y="4370832"/>
            <a:ext cx="8595360" cy="566928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1480" y="4370832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59E0B"/>
                </a:solidFill>
              </a:rPr>
              <a:t>Key Insight: </a:t>
            </a:r>
            <a:r>
              <a:rPr lang="en-US" sz="1050" dirty="0">
                <a:solidFill>
                  <a:srgbClr val="334155"/>
                </a:solidFill>
              </a:rPr>
              <a:t>A 5.2% supply shock drove a 58% price surge ($71→$128). This asymmetry is the hallmark of inelastic demand — even small shortfalls cause enormous economic disruption. R models (VAR) can isolate supply vs. demand shock contributions.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686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EV ADOPTION vs. OIL DISPLACEMENT — PROJECTED TRAJECTORY</a:t>
            </a:r>
            <a:endParaRPr lang="en-US" sz="19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24128"/>
          <a:ext cx="53035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274320" y="1024128"/>
          <a:ext cx="53035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5760720" y="102412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EA5B0"/>
                </a:solidFill>
              </a:rPr>
              <a:t>DATA TABLE (IEA STEPS + BNEF)</a:t>
            </a:r>
            <a:endParaRPr lang="en-US" sz="9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344168"/>
          <a:ext cx="3108960" cy="2971800"/>
        </p:xfrm>
        <a:graphic>
          <a:graphicData uri="http://schemas.openxmlformats.org/drawingml/2006/table">
            <a:tbl>
              <a:tblPr/>
              <a:tblGrid>
                <a:gridCol w="1036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Year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 Fleet (M)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Displacement (mb/d)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2015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1.2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</a:rPr>
                        <a:t>0.05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2020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10.0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</a:rPr>
                        <a:t>0.35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2023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40.0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</a:rPr>
                        <a:t>1.30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75.0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</a:rPr>
                        <a:t>2.50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2030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8F4F8"/>
                          </a:solidFill>
                        </a:rPr>
                        <a:t>250.0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5.50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2035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8F4F8"/>
                          </a:solidFill>
                        </a:rPr>
                        <a:t>480.0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11.50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8"/>
                          </a:solidFill>
                        </a:rPr>
                        <a:t>2040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8F4F8"/>
                          </a:solidFill>
                        </a:rPr>
                        <a:t>800.0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23.00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0" y="4480560"/>
            <a:ext cx="9144000" cy="411480"/>
          </a:xfrm>
          <a:prstGeom prst="rect">
            <a:avLst/>
          </a:prstGeom>
          <a:solidFill>
            <a:srgbClr val="081528"/>
          </a:solidFill>
          <a:ln w="12700">
            <a:solidFill>
              <a:srgbClr val="081528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274320" y="448056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B0"/>
                </a:solidFill>
              </a:rPr>
              <a:t>Teal line: </a:t>
            </a:r>
            <a:r>
              <a:rPr lang="en-US" sz="1000" dirty="0">
                <a:solidFill>
                  <a:srgbClr val="E8F4F8"/>
                </a:solidFill>
              </a:rPr>
              <a:t>EV fleet growth (S-curve)   </a:t>
            </a:r>
            <a:r>
              <a:rPr lang="en-US" sz="1000" b="1" dirty="0">
                <a:solidFill>
                  <a:srgbClr val="F59E0B"/>
                </a:solidFill>
              </a:rPr>
              <a:t>Amber line: </a:t>
            </a:r>
            <a:r>
              <a:rPr lang="en-US" sz="1000" dirty="0">
                <a:solidFill>
                  <a:srgbClr val="E8F4F8"/>
                </a:solidFill>
              </a:rPr>
              <a:t>Oil displacement (polynomial growth)   </a:t>
            </a:r>
            <a:r>
              <a:rPr lang="en-US" sz="1000" i="1" dirty="0">
                <a:solidFill>
                  <a:srgbClr val="F59E0B"/>
                </a:solidFill>
              </a:rPr>
              <a:t>Peak oil road demand: ~2025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686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 REQUIREMENT ANALYSIS — OFFSETTING SUPPLY SHOCKS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1097280"/>
          </a:xfrm>
          <a:prstGeom prst="rect">
            <a:avLst/>
          </a:prstGeom>
          <a:solidFill>
            <a:srgbClr val="0B1D3A"/>
          </a:solidFill>
          <a:ln w="12700">
            <a:solidFill>
              <a:srgbClr val="0EA5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F4F8"/>
                </a:solidFill>
              </a:rPr>
              <a:t>Required EV Fleet  =  </a:t>
            </a:r>
            <a:r>
              <a:rPr lang="en-US" sz="2000" b="1" dirty="0">
                <a:solidFill>
                  <a:srgbClr val="F59E0B"/>
                </a:solidFill>
              </a:rPr>
              <a:t>5,500,000 bbl/day</a:t>
            </a:r>
            <a:r>
              <a:rPr lang="en-US" sz="1800" dirty="0">
                <a:solidFill>
                  <a:srgbClr val="E8F4F8"/>
                </a:solidFill>
              </a:rPr>
              <a:t>  ÷  </a:t>
            </a:r>
            <a:r>
              <a:rPr lang="en-US" sz="2000" b="1" dirty="0">
                <a:solidFill>
                  <a:srgbClr val="0EA5B0"/>
                </a:solidFill>
              </a:rPr>
              <a:t>20,000 bbl/day per 1M EVs</a:t>
            </a:r>
            <a:r>
              <a:rPr lang="en-US" sz="1800" dirty="0">
                <a:solidFill>
                  <a:srgbClr val="E8F4F8"/>
                </a:solidFill>
              </a:rPr>
              <a:t>  =  </a:t>
            </a:r>
            <a:r>
              <a:rPr lang="en-US" sz="2600" b="1" dirty="0">
                <a:solidFill>
                  <a:srgbClr val="F59E0B"/>
                </a:solidFill>
              </a:rPr>
              <a:t>275 MILLION EVs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23317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B1D3A"/>
                </a:solidFill>
              </a:rPr>
              <a:t>OIL DISPLACED PER EV BY REGION (IEA 2022 Parameters)</a:t>
            </a:r>
            <a:endParaRPr lang="en-US" sz="10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79192"/>
          <a:ext cx="5212080" cy="1554480"/>
        </p:xfrm>
        <a:graphic>
          <a:graphicData uri="http://schemas.openxmlformats.org/drawingml/2006/table">
            <a:tbl>
              <a:tblPr/>
              <a:tblGrid>
                <a:gridCol w="1303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3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3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30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Region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Fuel Economy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Annual Mileage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Barrels/Year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United States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7.5 L/100 km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26,950 km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~12.7 bbl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Germany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7.1 L/100 km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14,700 km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~6.6 bbl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China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8.1 L/100 km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10,130 km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~5.2 bbl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23560" y="2331720"/>
            <a:ext cx="3246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623560" y="2331720"/>
            <a:ext cx="324612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15000" y="2468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Why 275M EVs?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715000" y="2788920"/>
            <a:ext cx="3017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A global blended average of 20,000 bbl/day displaced per 1M EVs accounts for urban 2-wheelers, hybrids, and lower-mileage markets diluting high-impact US EVs.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623560" y="3840480"/>
            <a:ext cx="3246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10"/>
          <p:cNvSpPr/>
          <p:nvPr/>
        </p:nvSpPr>
        <p:spPr>
          <a:xfrm>
            <a:off x="5623560" y="3840480"/>
            <a:ext cx="324612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15000" y="39776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Long-Term, Not Short-Term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715000" y="4297680"/>
            <a:ext cx="3017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Global EV stock (2025) ≈ 75M. Reaching 275M additional EVs requires multi-decade sustained investment. EVs cannot rapidly substitute during acute crises.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74320" y="4599432"/>
            <a:ext cx="8595360" cy="384048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1480" y="459943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</a:rPr>
              <a:t>BOTTOM LINE: </a:t>
            </a:r>
            <a:r>
              <a:rPr lang="en-US" sz="1100" dirty="0">
                <a:solidFill>
                  <a:srgbClr val="E8F4F8"/>
                </a:solidFill>
              </a:rPr>
              <a:t>EVs are a long-term structural hedge against oil dependency, NOT a rapid crisis management tool. The 2026 Hormuz crisis proved this vividly.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686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KEY INSIGHTS &amp; LITHIUM — THE NEW CHOKEPOINT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75488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91440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4526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Oil infrastructure is structurally fragile — 55%+ of maritime oil flows through just 2 chokepoints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975104"/>
            <a:ext cx="475488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975104"/>
            <a:ext cx="91440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75104"/>
            <a:ext cx="4526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Inelastic demand means even 5% supply cuts trigger 50%+ price spikes — logistics matters as much as production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852928"/>
            <a:ext cx="475488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852928"/>
            <a:ext cx="91440" cy="749808"/>
          </a:xfrm>
          <a:prstGeom prst="rect">
            <a:avLst/>
          </a:prstGeom>
          <a:solidFill>
            <a:srgbClr val="0EA5B0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52928"/>
            <a:ext cx="4526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EVs displace oil at scale but require decades — currently 1.3 mb/d, growing to 12 mb/d by 2035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730752"/>
            <a:ext cx="475488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730752"/>
            <a:ext cx="91440" cy="7498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30752"/>
            <a:ext cx="4526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The EV transition pivots geopolitical risk from Middle East oil → South American/Australian lithium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12080" y="10972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EA5B0"/>
                </a:solidFill>
              </a:rPr>
              <a:t>LITHIUM RESERVES BY COUNTRY</a:t>
            </a:r>
            <a:endParaRPr lang="en-US" sz="10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5212080" y="1389888"/>
          <a:ext cx="36576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5"/>
          <p:cNvSpPr/>
          <p:nvPr/>
        </p:nvSpPr>
        <p:spPr>
          <a:xfrm>
            <a:off x="5212080" y="4251960"/>
            <a:ext cx="36576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03520" y="42519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Total Reserves: </a:t>
            </a:r>
            <a:r>
              <a:rPr lang="en-US" sz="1050" b="1" dirty="0">
                <a:solidFill>
                  <a:srgbClr val="F59E0B"/>
                </a:solidFill>
              </a:rPr>
              <a:t>28M tons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87% extracted lithium → batteries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</a:rPr>
              <a:t>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859536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731520" cy="10515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43000"/>
            <a:ext cx="731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43000" y="123444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</a:rPr>
              <a:t>Oil Crises are Structural, Not Accidental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60020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Geographic concentration of production and maritime chokepoints make the global oil system inherently brittle. The 2026 Hormuz closure — costing $57/bbl overnight — was predictable.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331720"/>
            <a:ext cx="859536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0EA5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331720"/>
            <a:ext cx="731520" cy="1051560"/>
          </a:xfrm>
          <a:prstGeom prst="rect">
            <a:avLst/>
          </a:prstGeom>
          <a:solidFill>
            <a:srgbClr val="0EA5B0"/>
          </a:solidFill>
          <a:ln w="12700">
            <a:solidFill>
              <a:srgbClr val="0EA5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331720"/>
            <a:ext cx="731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143000" y="242316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B0"/>
                </a:solidFill>
              </a:rPr>
              <a:t>EVs Reduce Dependency — But Slowly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78892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EVs are permanently destroying oil demand: 2.5 mb/d today → 23 mb/d by 2040. But a 275M EV fleet is needed to offset just one major supply shock — that's a decade+ of work.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520440"/>
            <a:ext cx="859536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520440"/>
            <a:ext cx="731520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520440"/>
            <a:ext cx="731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143000" y="361188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The Future is a Hybrid Energy System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97764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Neither full oil dependency nor full electrification in the short term. Policy must manage both petroleum logistics AND critical mineral supply chains simultaneously.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EA5B0"/>
                </a:solidFill>
              </a:rPr>
              <a:t>Data Science Lens: R + ggplot2 + VAR models + geospatial analysis provide the quantitative backbone for understanding these transitions.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</a:rPr>
              <a:t>FUTURE SCOPE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37160"/>
            <a:ext cx="685800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097280"/>
            <a:ext cx="429768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097280"/>
            <a:ext cx="4297680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1298448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298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12801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Machine Learning Models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1719072"/>
            <a:ext cx="4041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Deploy LSTM / ARIMA time-series models in R (forecast package) to predict oil price volatility 6–12 months ahead based on chokepoint risk indicators.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11480" y="2395728"/>
            <a:ext cx="4041648" cy="320040"/>
          </a:xfrm>
          <a:prstGeom prst="rect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2395728"/>
            <a:ext cx="4041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2563EB"/>
                </a:solidFill>
              </a:rPr>
              <a:t>Tools: R forecast, keras, xgboost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709160" y="1097280"/>
            <a:ext cx="429768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09160" y="1097280"/>
            <a:ext cx="4297680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46320" y="1298448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46320" y="1298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349240" y="12801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</a:rPr>
              <a:t>Real-Time Route Optimization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846320" y="1719072"/>
            <a:ext cx="4041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Integrate live AIS vessel tracking APIs to run Dijkstra / A* shortest-path algorithms dynamically, accounting for current disruptions and rerouting costs.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846320" y="2395728"/>
            <a:ext cx="4041648" cy="320040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46320" y="2395728"/>
            <a:ext cx="4041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0891B2"/>
                </a:solidFill>
              </a:rPr>
              <a:t>Tools: R igraph, leaflet, OpenRouteService API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274320" y="2971800"/>
            <a:ext cx="429768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74320" y="2971800"/>
            <a:ext cx="429768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11480" y="317296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1480" y="31729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14400" y="31546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Lithium Supply Chain Modeling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11480" y="3593592"/>
            <a:ext cx="4041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Build supply-demand equilibrium models combining USGS reserve data with IEA EV adoption forecasts to predict critical mineral shortfalls by 2030–2035.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11480" y="4270248"/>
            <a:ext cx="4041648" cy="32004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1480" y="4270248"/>
            <a:ext cx="4041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0D9488"/>
                </a:solidFill>
              </a:rPr>
              <a:t>Tools: R lpSolve, dplyr, USGS XML API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709160" y="2971800"/>
            <a:ext cx="429768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709160" y="2971800"/>
            <a:ext cx="4297680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846320" y="3172968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46320" y="31729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5349240" y="31546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</a:rPr>
              <a:t>Interactive R Shiny Dashboard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4846320" y="3593592"/>
            <a:ext cx="4041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Deploy a real-time Shiny web app visualizing oil routes, price elasticity sliders, EV scenario modeling, and lithium reserve maps in one integrated interface.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846320" y="4270248"/>
            <a:ext cx="4041648" cy="320040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>
                <a:alpha val="40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846320" y="4270248"/>
            <a:ext cx="4041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D97706"/>
                </a:solidFill>
              </a:rPr>
              <a:t>Tools: R Shiny, plotly, leaflet, DT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2092</Words>
  <Application>Microsoft Office PowerPoint</Application>
  <PresentationFormat>On-screen Show (16:9)</PresentationFormat>
  <Paragraphs>307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Oil &amp; EV Data Science Minor Project</dc:title>
  <dc:subject>PptxGenJS Presentation</dc:subject>
  <dc:creator>PptxGenJS</dc:creator>
  <cp:lastModifiedBy>Anand Venukrishnan</cp:lastModifiedBy>
  <cp:revision>2</cp:revision>
  <dcterms:created xsi:type="dcterms:W3CDTF">2026-04-15T07:27:13Z</dcterms:created>
  <dcterms:modified xsi:type="dcterms:W3CDTF">2026-04-16T04:31:25Z</dcterms:modified>
</cp:coreProperties>
</file>